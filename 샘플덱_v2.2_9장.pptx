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002C5F"/>
            </a:solidFill>
            <a:effectLst/>
          </c:spPr>
          <c:invertIfNegative val="0"/>
          <c:dPt>
            <c:idx val="0"/>
            <c:spPr>
              <a:solidFill>
                <a:srgbClr val="AEBFD4"/>
              </a:solidFill>
            </c:spPr>
          </c:dPt>
          <c:dPt>
            <c:idx val="1"/>
            <c:spPr>
              <a:solidFill>
                <a:srgbClr val="AEBFD4"/>
              </a:solidFill>
            </c:spPr>
          </c:dPt>
          <c:dPt>
            <c:idx val="2"/>
            <c:spPr>
              <a:solidFill>
                <a:srgbClr val="AEBFD4"/>
              </a:solidFill>
            </c:spPr>
          </c:dPt>
          <c:dPt>
            <c:idx val="3"/>
            <c:spPr>
              <a:solidFill>
                <a:srgbClr val="AEBFD4"/>
              </a:solidFill>
            </c:spPr>
          </c:dPt>
          <c:dPt>
            <c:idx val="4"/>
            <c:spPr>
              <a:solidFill>
                <a:srgbClr val="AEBFD4"/>
              </a:solidFill>
            </c:spPr>
          </c:dPt>
          <c:dPt>
            <c:idx val="5"/>
            <c:spPr>
              <a:solidFill>
                <a:srgbClr val="AEBFD4"/>
              </a:solidFill>
            </c:spPr>
          </c:dPt>
          <c:dPt>
            <c:idx val="6"/>
            <c:spPr>
              <a:solidFill>
                <a:srgbClr val="AEBFD4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24.3Q</c:v>
                  </c:pt>
                  <c:pt idx="1">
                    <c:v>24.4Q</c:v>
                  </c:pt>
                  <c:pt idx="2">
                    <c:v>25.1Q</c:v>
                  </c:pt>
                  <c:pt idx="3">
                    <c:v>25.2Q</c:v>
                  </c:pt>
                  <c:pt idx="4">
                    <c:v>25.3Q</c:v>
                  </c:pt>
                  <c:pt idx="5">
                    <c:v>25.4Q</c:v>
                  </c:pt>
                  <c:pt idx="6">
                    <c:v>26.1Q</c:v>
                  </c:pt>
                  <c:pt idx="7">
                    <c:v>26.2Q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</c:v>
                </c:pt>
                <c:pt idx="1">
                  <c:v>71</c:v>
                </c:pt>
                <c:pt idx="2">
                  <c:v>74</c:v>
                </c:pt>
                <c:pt idx="3">
                  <c:v>79</c:v>
                </c:pt>
                <c:pt idx="4">
                  <c:v>81</c:v>
                </c:pt>
                <c:pt idx="5">
                  <c:v>86</c:v>
                </c:pt>
                <c:pt idx="6">
                  <c:v>89</c:v>
                </c:pt>
                <c:pt idx="7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FE4E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A8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거래액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C5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70A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0A1C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EBFD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자사몰</c:v>
                </c:pt>
                <c:pt idx="1">
                  <c:v>오픈마켓 제휴</c:v>
                </c:pt>
                <c:pt idx="2">
                  <c:v>라이브 커머스</c:v>
                </c:pt>
                <c:pt idx="3">
                  <c:v>글로벌 역직구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618</c:v>
                </c:pt>
                <c:pt idx="1">
                  <c:v>412</c:v>
                </c:pt>
                <c:pt idx="2">
                  <c:v>121</c:v>
                </c:pt>
                <c:pt idx="3">
                  <c:v>89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105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HALF-YEAR BUSINESS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12848"/>
            <a:ext cx="1015464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실적 리뷰 &amp;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성장 전략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4224528"/>
            <a:ext cx="9214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온리브커머스 전사 경영회의 · 2026. 7.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85455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대표이사 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3576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21408"/>
            <a:ext cx="4033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07792"/>
            <a:ext cx="35762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성과와 하반기 실행 계획을 중심으로 보고드립니다.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47513" y="1810512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14441" y="1773936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핵심 성과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814441" y="2121408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경영 지표 하이라이트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47513" y="2980944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14441" y="2944368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매출 추이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814441" y="3291840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흐름 분석과 시사점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47513" y="4151376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14441" y="4114800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전략 로드맵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814441" y="4462272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실행 계획과 마일스톤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7513" y="5321808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14441" y="5285232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협조 요청 사항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14441" y="5632704"/>
            <a:ext cx="58286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· 인력 · 전사 협업 안건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2026 · 상반기 핵심 성과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+21.6%, 전 지표가 성장했습니다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리뷰  · 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15993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51401" y="2066544"/>
            <a:ext cx="457200" cy="45720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8" name="Image 0" descr="/home/claude/ppt-harness/assets/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129" y="217627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121408"/>
            <a:ext cx="3510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매출액 (상반기 누적)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396735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02C5F"/>
                </a:solidFill>
                <a:latin typeface="Malgun Gothic Semilight" pitchFamily="34" charset="0"/>
                <a:ea typeface="Malgun Gothic Semilight" pitchFamily="34" charset="-122"/>
                <a:cs typeface="Malgun Gothic Semilight" pitchFamily="34" charset="-120"/>
              </a:rPr>
              <a:t>186</a:t>
            </a:r>
            <a:pPr indent="0" marL="0">
              <a:buNone/>
            </a:pPr>
            <a:r>
              <a:rPr lang="en-US" sz="16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822960" y="3547872"/>
            <a:ext cx="39673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21.6%</a:t>
            </a:r>
            <a:pPr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YoY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840480"/>
            <a:ext cx="39673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자동화 1단계로 수익성 동반 개선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47513" y="1828800"/>
            <a:ext cx="639554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21833" y="2060448"/>
            <a:ext cx="329184" cy="329184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15" name="Image 1" descr="/home/claude/ppt-harness/assets/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837" y="2139452"/>
            <a:ext cx="171176" cy="171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97321" y="2115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거래액 (GMV)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104327" y="2051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1,240</a:t>
            </a:r>
            <a:pPr algn="r" indent="0" marL="0">
              <a:buNone/>
            </a:pPr>
            <a:r>
              <a:rPr lang="en-US" sz="11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344607" y="205130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18.0%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21833" y="2621280"/>
            <a:ext cx="584690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21833" y="2852928"/>
            <a:ext cx="329184" cy="329184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21" name="Image 2" descr="/home/claude/ppt-harness/asse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837" y="2931932"/>
            <a:ext cx="171176" cy="171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97321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가입자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104327" y="28437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32.4</a:t>
            </a:r>
            <a:pPr algn="r" indent="0" marL="0">
              <a:buNone/>
            </a:pPr>
            <a:r>
              <a:rPr lang="en-US" sz="11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 명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0344607" y="284378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15.2%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521833" y="3413760"/>
            <a:ext cx="5846902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21833" y="3645408"/>
            <a:ext cx="329184" cy="329184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27" name="Image 3" descr="/home/claude/ppt-harness/assets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837" y="3724412"/>
            <a:ext cx="171176" cy="1711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97321" y="3700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재구매율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104327" y="36362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41.2</a:t>
            </a:r>
            <a:pPr algn="r" indent="0" marL="0">
              <a:buNone/>
            </a:pPr>
            <a:r>
              <a:rPr lang="en-US" sz="11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10344607" y="36362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3.5%p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247513" y="4279392"/>
            <a:ext cx="63772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증감은 전년 동기(YoY) 대비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4526280"/>
            <a:ext cx="11094415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48640" y="4654296"/>
            <a:ext cx="50292" cy="1389888"/>
          </a:xfrm>
          <a:prstGeom prst="rect">
            <a:avLst/>
          </a:prstGeom>
          <a:solidFill>
            <a:srgbClr val="0070AB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474573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IMPLICATION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822960" y="5093208"/>
            <a:ext cx="1054577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성장의 약 60%가 기존 고객에서 발생 — 멤버십 리뉴얼 이후 재구매율이 두 분기 연속 상승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 성장률은 전년 23%에서 15%로 둔화 — 하반기 신규 유입 채널 다변화가 필요한 시점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매출 추이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8분기 연속 성장, 분기 매출 사상 최대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리뷰  · 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39554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048256"/>
            <a:ext cx="337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매출 (억원, VAT 제외)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55262" y="204825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26.2Q 97억 · 사상 최대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432304"/>
          <a:ext cx="593834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127062" y="1993392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93990" y="1965960"/>
            <a:ext cx="39490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분기 연속 성장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93990" y="2304288"/>
            <a:ext cx="394906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26.2Q 매출 97억 원으로 분기 기준 사상 최대치를 경신했습니다.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27062" y="3364992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93990" y="3337560"/>
            <a:ext cx="39490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동반 개선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93990" y="3675888"/>
            <a:ext cx="394906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자동화 1단계 효과로 공헌이익률이 전년 대비 2.1%p 상승했습니다.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127062" y="4736592"/>
            <a:ext cx="384048" cy="384048"/>
          </a:xfrm>
          <a:prstGeom prst="ellipse">
            <a:avLst/>
          </a:prstGeom>
          <a:solidFill>
            <a:srgbClr val="002C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93990" y="4709160"/>
            <a:ext cx="39490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목표 진척률 48%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693990" y="5047488"/>
            <a:ext cx="394906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성수기 계절성을 감안하면 연간 목표 달성 궤도에 있습니다.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126480"/>
            <a:ext cx="8224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내부 정산 데이터 기준 (2026. 6. 30 마감) · 본 자료의 수치는 데모용 가상 데이터입니다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부문별 실적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자사몰과 제휴가 매출의 81%를 만듭니다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리뷰  · 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4577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37746"/>
                <a:gridCol w="1869382"/>
                <a:gridCol w="1869382"/>
                <a:gridCol w="1402036"/>
                <a:gridCol w="163570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 부문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거래액 (억원)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(억원)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비중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70A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+24.1%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오픈마켓 제휴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70A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C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F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 커머스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70A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C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1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역직구 (베타)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70A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1,240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+21.6%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83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비중 (%)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5697286" cy="365760"/>
          </a:xfrm>
          <a:prstGeom prst="rect">
            <a:avLst/>
          </a:prstGeom>
          <a:solidFill>
            <a:srgbClr val="002C5F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5696712"/>
            <a:ext cx="5724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51.6%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73358" y="5257800"/>
            <a:ext cx="3256515" cy="365760"/>
          </a:xfrm>
          <a:prstGeom prst="rect">
            <a:avLst/>
          </a:prstGeom>
          <a:solidFill>
            <a:srgbClr val="0070AB"/>
          </a:solidFill>
          <a:ln/>
        </p:spPr>
      </p:sp>
      <p:sp>
        <p:nvSpPr>
          <p:cNvPr id="12" name="Text 9"/>
          <p:cNvSpPr/>
          <p:nvPr/>
        </p:nvSpPr>
        <p:spPr>
          <a:xfrm>
            <a:off x="6291646" y="5696712"/>
            <a:ext cx="32839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오픈마켓 제휴 29.6%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557305" y="5257800"/>
            <a:ext cx="1226237" cy="365760"/>
          </a:xfrm>
          <a:prstGeom prst="rect">
            <a:avLst/>
          </a:prstGeom>
          <a:solidFill>
            <a:srgbClr val="00A1C7"/>
          </a:solidFill>
          <a:ln/>
        </p:spPr>
      </p:sp>
      <p:sp>
        <p:nvSpPr>
          <p:cNvPr id="14" name="Text 11"/>
          <p:cNvSpPr/>
          <p:nvPr/>
        </p:nvSpPr>
        <p:spPr>
          <a:xfrm>
            <a:off x="9575593" y="5696712"/>
            <a:ext cx="1253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커머스 11.3%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810974" y="5257800"/>
            <a:ext cx="804649" cy="365760"/>
          </a:xfrm>
          <a:prstGeom prst="rect">
            <a:avLst/>
          </a:prstGeom>
          <a:solidFill>
            <a:srgbClr val="AEBFD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부문 구분은 정산 기준 · 본 자료의 수치는 데모용 가상 데이터입니다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거래액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거래액의 절반이 자사몰에서 나옵니다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리뷰  · 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5576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048256"/>
            <a:ext cx="494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부문별 거래액 구성 (억원)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234440" y="2514600"/>
          <a:ext cx="4084168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2179244" y="35433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1,240억</a:t>
            </a:r>
            <a:endParaRPr lang="en-US" sz="2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거래액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187288" y="1828800"/>
            <a:ext cx="545576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7328" y="2515743"/>
            <a:ext cx="146304" cy="146304"/>
          </a:xfrm>
          <a:prstGeom prst="ellipse">
            <a:avLst/>
          </a:prstGeom>
          <a:solidFill>
            <a:srgbClr val="002C5F"/>
          </a:solidFill>
          <a:ln/>
        </p:spPr>
      </p:sp>
      <p:sp>
        <p:nvSpPr>
          <p:cNvPr id="12" name="Text 9"/>
          <p:cNvSpPr/>
          <p:nvPr/>
        </p:nvSpPr>
        <p:spPr>
          <a:xfrm>
            <a:off x="6790792" y="247916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16975" y="2433447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618</a:t>
            </a:r>
            <a:pPr algn="r"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91495" y="2488311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49.8%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61608" y="3028950"/>
            <a:ext cx="4907128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07328" y="3395853"/>
            <a:ext cx="146304" cy="146304"/>
          </a:xfrm>
          <a:prstGeom prst="ellipse">
            <a:avLst/>
          </a:prstGeom>
          <a:solidFill>
            <a:srgbClr val="0070AB"/>
          </a:solidFill>
          <a:ln/>
        </p:spPr>
      </p:sp>
      <p:sp>
        <p:nvSpPr>
          <p:cNvPr id="17" name="Text 14"/>
          <p:cNvSpPr/>
          <p:nvPr/>
        </p:nvSpPr>
        <p:spPr>
          <a:xfrm>
            <a:off x="6790792" y="335927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오픈마켓 제휴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716975" y="3313557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412</a:t>
            </a:r>
            <a:pPr algn="r"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91495" y="3368421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33.2%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61608" y="3909060"/>
            <a:ext cx="4907128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07328" y="4275963"/>
            <a:ext cx="146304" cy="146304"/>
          </a:xfrm>
          <a:prstGeom prst="ellipse">
            <a:avLst/>
          </a:prstGeom>
          <a:solidFill>
            <a:srgbClr val="00A1C7"/>
          </a:solidFill>
          <a:ln/>
        </p:spPr>
      </p:sp>
      <p:sp>
        <p:nvSpPr>
          <p:cNvPr id="22" name="Text 19"/>
          <p:cNvSpPr/>
          <p:nvPr/>
        </p:nvSpPr>
        <p:spPr>
          <a:xfrm>
            <a:off x="6790792" y="423938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커머스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716975" y="4193667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</a:t>
            </a:r>
            <a:pPr algn="r"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591495" y="4248531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9.8%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61608" y="4789170"/>
            <a:ext cx="4907128" cy="0"/>
          </a:xfrm>
          <a:prstGeom prst="line">
            <a:avLst/>
          </a:prstGeom>
          <a:noFill/>
          <a:ln w="9525">
            <a:solidFill>
              <a:srgbClr val="DFE4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07328" y="5156073"/>
            <a:ext cx="146304" cy="146304"/>
          </a:xfrm>
          <a:prstGeom prst="ellipse">
            <a:avLst/>
          </a:prstGeom>
          <a:solidFill>
            <a:srgbClr val="AEBFD4"/>
          </a:solidFill>
          <a:ln/>
        </p:spPr>
      </p:sp>
      <p:sp>
        <p:nvSpPr>
          <p:cNvPr id="27" name="Text 24"/>
          <p:cNvSpPr/>
          <p:nvPr/>
        </p:nvSpPr>
        <p:spPr>
          <a:xfrm>
            <a:off x="6790792" y="5119497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역직구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716975" y="5073777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</a:t>
            </a:r>
            <a:pPr algn="r" indent="0" marL="0">
              <a:buNone/>
            </a:pPr>
            <a:r>
              <a:rPr lang="en-US" sz="10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억원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0591495" y="5128641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126480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데모용 가상 데이터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7288" y="3749040"/>
            <a:ext cx="54557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123E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335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414016"/>
            <a:ext cx="73353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성장 전략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64992"/>
            <a:ext cx="63955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실행 로드맵과 이를 위한 전사 협조 요청 사항입니다.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2026 · 하반기 로드맵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3단계로 하반기 성장을 가속합니다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ONLIVE COMMERCE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082735" y="6419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 전략  · 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6749" y="2395728"/>
            <a:ext cx="7518197" cy="0"/>
          </a:xfrm>
          <a:prstGeom prst="line">
            <a:avLst/>
          </a:prstGeom>
          <a:noFill/>
          <a:ln w="25400">
            <a:solidFill>
              <a:srgbClr val="DF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5229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– 8월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08733" y="2267712"/>
            <a:ext cx="256032" cy="256032"/>
          </a:xfrm>
          <a:prstGeom prst="ellipse">
            <a:avLst/>
          </a:prstGeom>
          <a:solidFill>
            <a:srgbClr val="002C5F"/>
          </a:solidFill>
          <a:ln/>
        </p:spPr>
      </p:sp>
      <p:sp>
        <p:nvSpPr>
          <p:cNvPr id="9" name="Shape 7"/>
          <p:cNvSpPr/>
          <p:nvPr/>
        </p:nvSpPr>
        <p:spPr>
          <a:xfrm>
            <a:off x="2291029" y="235000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364328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– 10월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67832" y="2267712"/>
            <a:ext cx="256032" cy="256032"/>
          </a:xfrm>
          <a:prstGeom prst="ellipse">
            <a:avLst/>
          </a:prstGeom>
          <a:solidFill>
            <a:srgbClr val="002C5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50128" y="235000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23426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– 12월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726930" y="2267712"/>
            <a:ext cx="256032" cy="256032"/>
          </a:xfrm>
          <a:prstGeom prst="ellipse">
            <a:avLst/>
          </a:prstGeom>
          <a:solidFill>
            <a:srgbClr val="002C5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09226" y="235000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26080"/>
            <a:ext cx="357621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200400"/>
            <a:ext cx="457200" cy="45720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18" name="Image 0" descr="/home/claude/ppt-harness/asse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1012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08176" y="3218688"/>
            <a:ext cx="2478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408176" y="3438144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강화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4005072"/>
            <a:ext cx="302757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자동화 2단계 착수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등급제 개편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거버넌스 정책 수립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07738" y="2926080"/>
            <a:ext cx="357621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63770" y="3200400"/>
            <a:ext cx="457200" cy="45720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24" name="Image 1" descr="/home/claude/ppt-harness/assets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3310128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67274" y="3218688"/>
            <a:ext cx="2478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167274" y="3438144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가속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582058" y="4005072"/>
            <a:ext cx="302757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역직구 베타 오픈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유입 채널 3종 테스트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커머스 파트너십 확대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066837" y="2926080"/>
            <a:ext cx="357621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E4EA"/>
            </a:solidFill>
            <a:prstDash val="solid"/>
          </a:ln>
          <a:effectLst>
            <a:outerShdw sx="100000" sy="100000" kx="0" ky="0" algn="bl" rotWithShape="0" blurRad="88900" dist="12700" dir="5400000">
              <a:srgbClr val="1F2D3D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22869" y="3200400"/>
            <a:ext cx="457200" cy="457200"/>
          </a:xfrm>
          <a:prstGeom prst="ellipse">
            <a:avLst/>
          </a:prstGeom>
          <a:solidFill>
            <a:srgbClr val="002C5F"/>
          </a:solidFill>
          <a:ln/>
        </p:spPr>
      </p:sp>
      <p:pic>
        <p:nvPicPr>
          <p:cNvPr id="30" name="Image 2" descr="/home/claude/ppt-harness/asset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331012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926373" y="3218688"/>
            <a:ext cx="2478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7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8926373" y="3438144"/>
            <a:ext cx="2478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극대화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341157" y="4005072"/>
            <a:ext cx="302757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연말 대형 프로모션 집행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고도화 전면 적용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사업계획 수립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560320"/>
            <a:ext cx="5120640" cy="5120640"/>
          </a:xfrm>
          <a:prstGeom prst="ellipse">
            <a:avLst/>
          </a:prstGeom>
          <a:solidFill>
            <a:srgbClr val="0070AB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3840480" cy="3840480"/>
          </a:xfrm>
          <a:prstGeom prst="ellipse">
            <a:avLst/>
          </a:prstGeom>
          <a:solidFill>
            <a:srgbClr val="123E6B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326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2529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5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협조를 요청드립니다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76218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16936"/>
            <a:ext cx="384048" cy="384048"/>
          </a:xfrm>
          <a:prstGeom prst="ellipse">
            <a:avLst/>
          </a:prstGeom>
          <a:solidFill>
            <a:srgbClr val="00A1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75304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승인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3027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자동화 2단계 CAPEX 45억 원의 3분기 내 집행 승인을 요청드립니다.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07738" y="2606040"/>
            <a:ext cx="3576218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82058" y="2916936"/>
            <a:ext cx="384048" cy="384048"/>
          </a:xfrm>
          <a:prstGeom prst="ellipse">
            <a:avLst/>
          </a:prstGeom>
          <a:solidFill>
            <a:srgbClr val="00A1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82058" y="3575304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충원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82058" y="3977640"/>
            <a:ext cx="3027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사업 TF 5명(개발 3 · 사업 2)의 9월 온보딩을 목표로 채용 협조를 요청드립니다.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6837" y="2606040"/>
            <a:ext cx="3576218" cy="237744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41157" y="2916936"/>
            <a:ext cx="384048" cy="384048"/>
          </a:xfrm>
          <a:prstGeom prst="ellipse">
            <a:avLst/>
          </a:prstGeom>
          <a:solidFill>
            <a:srgbClr val="00A1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1157" y="3575304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협업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41157" y="3977640"/>
            <a:ext cx="3027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거버넌스 정책 수립에 각 본부 리드의 참여를 요청드립니다.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온리브커머스 전략기획팀 · strategy@onlive-commerce.example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ONLIVE COMMERCE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상반기 실적 리뷰 &amp; 하반기 성장 전략</dc:title>
  <dc:subject>PptxGenJS Presentation</dc:subject>
  <dc:creator>전략기획팀</dc:creator>
  <cp:lastModifiedBy>전략기획팀</cp:lastModifiedBy>
  <cp:revision>1</cp:revision>
  <dcterms:created xsi:type="dcterms:W3CDTF">2026-07-14T15:19:08Z</dcterms:created>
  <dcterms:modified xsi:type="dcterms:W3CDTF">2026-07-14T15:19:08Z</dcterms:modified>
</cp:coreProperties>
</file>